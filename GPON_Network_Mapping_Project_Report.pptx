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93564"/>
            <a:ext cx="7772400" cy="2498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rPr dirty="0"/>
              <a:t>GPON Network Mapping &amp;</a:t>
            </a:r>
            <a:br>
              <a:rPr dirty="0"/>
            </a:br>
            <a:r>
              <a:rPr dirty="0"/>
              <a:t>Field Survey System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rPr dirty="0"/>
              <a:t>Enterprise GIS Infrastructure, Offline-First Mobile PWA &amp; Central Office Management Portal</a:t>
            </a:r>
          </a:p>
          <a:p>
            <a:pPr>
              <a:spcBef>
                <a:spcPts val="2800"/>
              </a:spcBef>
              <a:defRPr sz="1200" b="1">
                <a:solidFill>
                  <a:srgbClr val="0284C7"/>
                </a:solidFill>
              </a:defRPr>
            </a:pPr>
            <a:endParaRPr dirty="0"/>
          </a:p>
        </p:txBody>
      </p:sp>
      <p:pic>
        <p:nvPicPr>
          <p:cNvPr id="5" name="Picture 4" descr="icon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828800"/>
            <a:ext cx="24688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PROJECT OVERVIEW</a:t>
            </a:r>
          </a:p>
          <a:p>
            <a:pPr>
              <a:spcBef>
                <a:spcPts val="300"/>
              </a:spcBef>
              <a:defRPr sz="2500" b="1">
                <a:solidFill>
                  <a:srgbClr val="0F172A"/>
                </a:solidFill>
              </a:defRPr>
            </a:pPr>
            <a:r>
              <a:t>Executive Summary &amp; Operational Mandate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3600" b="1">
                <a:solidFill>
                  <a:srgbClr val="0284C7"/>
                </a:solidFill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</a:defRPr>
            </a:pPr>
            <a:r>
              <a:t>Geolocation Accuracy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Sub-meter GPS capture via Leaflet GIS integration eliminating manual coordinate transcription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3600" b="1">
                <a:solidFill>
                  <a:srgbClr val="0284C7"/>
                </a:solidFill>
              </a:defRPr>
            </a:pPr>
            <a:r>
              <a:t>0%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</a:defRPr>
            </a:pPr>
            <a:r>
              <a:t>Field Data Loss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Offline-First Service Worker (v73) architecture with client persistence enabling seamless survey in zero-network rural 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3455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3600" b="1">
                <a:solidFill>
                  <a:srgbClr val="0284C7"/>
                </a:solidFill>
              </a:defRPr>
            </a:pPr>
            <a:r>
              <a:t>4x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</a:defRPr>
            </a:pPr>
            <a:r>
              <a:t>Survey Ingestion Velocity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Real-time sync to Central Office SQLite ledger replacing days of post-survey manual Excel collation.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Strategic Objective &amp; Current Deployment Status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Digital Transformation of FTTH Infrastructure: Transforms legacy manual paper/spreadsheet field surveys into an automated, georeferenced, cloud-synchronized GIS network database.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End-to-End Asset Traceability: Captures electric utility poles (KSEB Pole #), optical distribution nodes, splitters (1:8, 1:16), fiber strand counts, RT rooms, and landmark coordinates.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Full Circle Operational Footprint: Deployed and operational across Kerala telecom operational zones including Thrissur, Kottayam, and Trivandrum Sub divisions.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Executive Oversight: Provides senior officers real-time visibility into survey progress, team productivity, asset density, and exportable audit-ready Excel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BUSINESS CASE &amp; RATIONALE</a:t>
            </a:r>
          </a:p>
          <a:p>
            <a:pPr>
              <a:spcBef>
                <a:spcPts val="300"/>
              </a:spcBef>
              <a:defRPr sz="2500" b="1">
                <a:solidFill>
                  <a:srgbClr val="0F172A"/>
                </a:solidFill>
              </a:defRPr>
            </a:pPr>
            <a:r>
              <a:t>Operational Challenges vs Modern Digital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700" b="1">
                <a:solidFill>
                  <a:srgbClr val="E11D48"/>
                </a:solidFill>
              </a:defRPr>
            </a:pPr>
            <a:r>
              <a:t>⚠️ Legacy Manual Survey Vulnerabilities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GPS Coordinate Errors: </a:t>
            </a:r>
            <a:r>
              <a:rPr b="0">
                <a:solidFill>
                  <a:srgbClr val="64748B"/>
                </a:solidFill>
              </a:rPr>
              <a:t>Manual transcription of latitude/longitude led to inaccurate GIS placement and misplaced optical fiber routes.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Duplicate &amp; Unvalidated Pole IDs: </a:t>
            </a:r>
            <a:r>
              <a:rPr b="0">
                <a:solidFill>
                  <a:srgbClr val="64748B"/>
                </a:solidFill>
              </a:rPr>
              <a:t>Technicians frequently entered inconsistent or duplicate KSEB pole numbers without real-time database validation.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Data Loss in Shadow Zones: </a:t>
            </a:r>
            <a:r>
              <a:rPr b="0">
                <a:solidFill>
                  <a:srgbClr val="64748B"/>
                </a:solidFill>
              </a:rPr>
              <a:t>Loss of cellular reception in rural areas resulted in unrecorded survey entries or delayed data synchronization.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Fragmented Spreadsheets: </a:t>
            </a:r>
            <a:r>
              <a:rPr b="0">
                <a:solidFill>
                  <a:srgbClr val="64748B"/>
                </a:solidFill>
              </a:rPr>
              <a:t>Field data arrived in disconnected Excel files across sub-divisions, taking weeks for central office compilation.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No Role-Based Security: </a:t>
            </a:r>
            <a:r>
              <a:rPr b="0">
                <a:solidFill>
                  <a:srgbClr val="64748B"/>
                </a:solidFill>
              </a:rPr>
              <a:t>Sensitive network layout files and customer drop coordinates lacked role-based access control or audit trails.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645920"/>
            <a:ext cx="52120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✅ Modern GPON Mapping System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Hardware-Accelerated Geolocation: </a:t>
            </a:r>
            <a:r>
              <a:rPr b="0">
                <a:solidFill>
                  <a:srgbClr val="64748B"/>
                </a:solidFill>
              </a:rPr>
              <a:t>One-touch GPS capture with live interactive Leaflet maps and visual radius accuracy feedback.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Hierarchical Validation Engine: </a:t>
            </a:r>
            <a:r>
              <a:rPr b="0">
                <a:solidFill>
                  <a:srgbClr val="64748B"/>
                </a:solidFill>
              </a:rPr>
              <a:t>Cascading Region → Center → RT Room → Node dropdowns with strict KSEB pole integrity checks.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Offline-First Resilient PWA: </a:t>
            </a:r>
            <a:r>
              <a:rPr b="0">
                <a:solidFill>
                  <a:srgbClr val="64748B"/>
                </a:solidFill>
              </a:rPr>
              <a:t>Service Worker caching stores surveys locally in offline storage and syncs automatically when network reconnects.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Unified Live Central Ledger: </a:t>
            </a:r>
            <a:r>
              <a:rPr b="0">
                <a:solidFill>
                  <a:srgbClr val="64748B"/>
                </a:solidFill>
              </a:rPr>
              <a:t>All field teams push to an ACID SQLite central repository with real-time live feed monitoring.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Enterprise RBAC Governance: </a:t>
            </a:r>
            <a:r>
              <a:rPr b="0">
                <a:solidFill>
                  <a:srgbClr val="64748B"/>
                </a:solidFill>
              </a:rPr>
              <a:t>5-tiered security model separating field technicians, ACSOs, RCSMs, and Central Admins.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TECHNICAL ARCHITECTURE</a:t>
            </a:r>
          </a:p>
          <a:p>
            <a:pPr>
              <a:spcBef>
                <a:spcPts val="300"/>
              </a:spcBef>
              <a:defRPr sz="2500" b="1">
                <a:solidFill>
                  <a:srgbClr val="0F172A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LAYER 1: FIELD CLIENT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Progressive Web App (PWA)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</a:defRPr>
            </a:pPr>
            <a:r>
              <a:t>───────────────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Installable Mobile Web App (Zero App Store friction)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Service Worker v73 offline asset &amp; API cache engine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Leaflet GIS interactive mapping engine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HTML5 Geolocation API with accuracy bounding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56032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950" b="1">
                <a:solidFill>
                  <a:srgbClr val="1E293B"/>
                </a:solidFill>
              </a:defRPr>
            </a:pPr>
            <a:r>
              <a:t>LAYER 2: BACKEND CORE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High-Performance FastAPI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</a:defRPr>
            </a:pPr>
            <a:r>
              <a:t>───────────────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Python 3.10+ Asynchronous ASGI RESTful API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40 specialized endpoints for survey, auth &amp; hierarchy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Sub-50ms latency response times under load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Automated Excel / CSV template streaming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56032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LAYER 3: DATA PERSISTENCE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Transactional SQLite Ledger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</a:defRPr>
            </a:pPr>
            <a:r>
              <a:t>───────────────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ACID-compliant SQLite database (survey_data.db)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WAL (Write-Ahead Logging) for safe concurrent writes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Optimized indexing on Region, Center, and RT Room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Multi-tiered Google Drive / Cloud snapshot backup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56032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LAYER 4: SECURITY &amp; GOVERNANCE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Role-Based Access Control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</a:defRPr>
            </a:pPr>
            <a:r>
              <a:t>───────────────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Instant Pre-Render Auth Guard preventing FOUC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Strict server-side role validation on /admin endpoints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Cryptographic session tokens &amp; password hashing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Comprehensive client audit &amp; operational trade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ENTERPRISE SECURITY</a:t>
            </a:r>
          </a:p>
          <a:p>
            <a:pPr>
              <a:spcBef>
                <a:spcPts val="300"/>
              </a:spcBef>
              <a:defRPr sz="2500" b="1">
                <a:solidFill>
                  <a:srgbClr val="0F172A"/>
                </a:solidFill>
              </a:defRPr>
            </a:pPr>
            <a:r>
              <a:t>Security Governance &amp; Role-Based Access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👑 Super Admin  |  Full System Authority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Target Audience: Central Office Network Administrators  —  Uploads Node Master hierarchy Excel sheets, manages all circle databases, creates/deletes users, and configures circle boundaries.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728655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🛡️ Admin  |  User &amp; Operations Control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Target Audience: Divisional Operational Officers  —  Adds and updates user access, assigns multi-region/multi-center jurisdictions, monitors live survey feeds, and executes bulk data exports.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728655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📊 RCSM (Regional Manager)  |  Analytics &amp; Oversight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Target Audience: Circle Service &amp; Quality Managers  —  Full visibility into field progress dashboards, quality verification, cross-circle KPI reporting, and field data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10728655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📝 ACSO (Sub-Divisional Officer)  |  Sub-Division Operations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Target Audience: Assistant Circle Sub-divisional Officers  —  Supervises multi-center field technician progress, reviews surveyed poles in designated centers, and performs data entry.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728655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64748B"/>
                </a:solidFill>
              </a:defRPr>
            </a:pPr>
            <a:r>
              <a:t>👷 Field Technician  |  Survey Data Ingestion Only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Target Audience: On-Ground Survey Engineers  —  Restricted exclusively to mobile survey capture. Zero access to administrative portals, user rosters, or master configuration sheets.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OPERATIONAL WORKFLOW</a:t>
            </a:r>
          </a:p>
          <a:p>
            <a:pPr>
              <a:spcBef>
                <a:spcPts val="300"/>
              </a:spcBef>
              <a:defRPr sz="2500" b="1">
                <a:solidFill>
                  <a:srgbClr val="0F172A"/>
                </a:solidFill>
              </a:defRPr>
            </a:pPr>
            <a:r>
              <a:t>Field Survey Lifecycle &amp; GIS Ingestion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5740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28600" rIns="164592" rtlCol="0" anchor="ctr"/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Step 1: Node Hierarchy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Technician selects Region, Center, RT Room, and Node Name via cascading dropdowns that prevent cross-center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05740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28600" rIns="164592" rtlCol="0" anchor="ctr"/>
          <a:lstStyle/>
          <a:p>
            <a:pPr algn="ctr">
              <a:defRPr sz="2800" b="1">
                <a:solidFill>
                  <a:srgbClr val="1E293B"/>
                </a:solidFill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Step 2: Pole &amp; GPS Capture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Physical KSEB Pole # is entered; live GPS coordinates are acquired with Leaflet map confirmation.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205740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28600" rIns="164592" rtlCol="0" anchor="ctr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Step 3: Hardware Specs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Records enclosure type, fiber strand count, splitter ratio (1:8 / 1:16), port allocations, and landmark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9" y="1645920"/>
            <a:ext cx="205740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28600" rIns="164592" rtlCol="0" anchor="ctr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04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Step 4: Offline Ingestion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If cell connectivity is unavailable, survey is cached in local IndexedDB storage with visual status dot.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45920"/>
            <a:ext cx="205740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28600" rIns="164592" rtlCol="0" anchor="ctr"/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05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Step 5: Live Cloud Commit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Upon network reconnect, queued surveys automatically push to Central Office SQLite database with zero data loss.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MANAGEMENT DASHBOARD</a:t>
            </a:r>
          </a:p>
          <a:p>
            <a:pPr>
              <a:spcBef>
                <a:spcPts val="300"/>
              </a:spcBef>
              <a:defRPr sz="2500" b="1">
                <a:solidFill>
                  <a:srgbClr val="0F172A"/>
                </a:solidFill>
              </a:defRPr>
            </a:pPr>
            <a:r>
              <a:t>Central Office Admin Portal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📡 Real-Time Survey Live Feed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Instant tabular view of all field submissions across circles with live multi-region, multi-center, and RT room filters.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Full-text search by KSEB pole number, landmark, surveyor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Instant Excel export for management audit reports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Row deletion and verification by authorized admins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👥 User Access &amp; Jurisdiction Management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Complete lifecycle management for survey staff with multi-center coverage assignment.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Multi-region and multi-center checklist picker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Elevated z-index interface preventing modal clipping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Secure PIN / Password reset with contact info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3455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📂 Master Network Hierarchy Ingestion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Bulk upload capability for network engineering master sheets across sub-divisions.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Excel template download &amp; instant batch hierarchy upload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Populates Region, Center, RT Room, and Node Name data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Propagates automatically to all field mobile devices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SYSTEM RELIABILITY</a:t>
            </a:r>
          </a:p>
          <a:p>
            <a:pPr>
              <a:spcBef>
                <a:spcPts val="300"/>
              </a:spcBef>
              <a:defRPr sz="2500" b="1">
                <a:solidFill>
                  <a:srgbClr val="0F172A"/>
                </a:solidFill>
              </a:defRPr>
            </a:pPr>
            <a:r>
              <a:t>Data Integrity, Backup &amp; System Resilience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PERSISTENCE CORE</a:t>
            </a:r>
          </a:p>
          <a:p>
            <a:pPr>
              <a:spcBef>
                <a:spcPts val="300"/>
              </a:spcBef>
              <a:defRPr sz="1600" b="1">
                <a:solidFill>
                  <a:srgbClr val="0F172A"/>
                </a:solidFill>
              </a:defRPr>
            </a:pPr>
            <a:r>
              <a:t>ACID Database Safety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Atomic SQLite transactions guarantee zero partial or corrupted survey writes.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Write-Ahead Logging (WAL) mode enables high-throughput concurrent reads and writes.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Parameterized queries eliminate SQL injection vulnerabilities.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DISASTER RECOVERY</a:t>
            </a:r>
          </a:p>
          <a:p>
            <a:pPr>
              <a:spcBef>
                <a:spcPts val="300"/>
              </a:spcBef>
              <a:defRPr sz="1600" b="1">
                <a:solidFill>
                  <a:srgbClr val="0F172A"/>
                </a:solidFill>
              </a:defRPr>
            </a:pPr>
            <a:r>
              <a:t>Cloud Backup &amp; Archival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Automated Google Drive periodic synchronization scripts for off-site backup.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Standalone snapshot dumps enable rapid full-system recovery within minutes.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Local transaction ledgers maintain a permanent, verifiable audit history.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3455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DEV-OPS &amp; MONITORING</a:t>
            </a:r>
          </a:p>
          <a:p>
            <a:pPr>
              <a:spcBef>
                <a:spcPts val="300"/>
              </a:spcBef>
              <a:defRPr sz="1600" b="1">
                <a:solidFill>
                  <a:srgbClr val="0F172A"/>
                </a:solidFill>
              </a:defRPr>
            </a:pPr>
            <a:r>
              <a:t>Automated Architecture Analyzer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Custom wiring analyzer scans 40 API endpoints and 100 frontend functions on every commit.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Automated blast-radius matrix ensures UI modifications never break database models.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Stand-alone wiring report HTML portal available to engineering leadership.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EXECUTIVE RECOMMENDATIONS</a:t>
            </a:r>
          </a:p>
          <a:p>
            <a:pPr>
              <a:spcBef>
                <a:spcPts val="300"/>
              </a:spcBef>
              <a:defRPr sz="2500" b="1">
                <a:solidFill>
                  <a:srgbClr val="0F172A"/>
                </a:solidFill>
              </a:defRPr>
            </a:pPr>
            <a:r>
              <a:t>Strategic Roadmap &amp; Future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rPr dirty="0"/>
              <a:t>PHASE 1 (CURRENT ACHIEVED)</a:t>
            </a:r>
          </a:p>
          <a:p>
            <a:pPr>
              <a:spcBef>
                <a:spcPts val="300"/>
              </a:spcBef>
              <a:defRPr sz="1500" b="1">
                <a:solidFill>
                  <a:srgbClr val="0F172A"/>
                </a:solidFill>
              </a:defRPr>
            </a:pPr>
            <a:r>
              <a:rPr dirty="0"/>
              <a:t>GIS Pole &amp; Node Digitalization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rPr dirty="0"/>
              <a:t>─────────────────────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• Full transition to mobile PWA field survey.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• Cascading validation for Region, Center &amp; RT Room.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• Robust offline caching and multi-center user governance.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PHASE 2 (RECOMMENDED Q1)</a:t>
            </a:r>
          </a:p>
          <a:p>
            <a:pPr>
              <a:spcBef>
                <a:spcPts val="300"/>
              </a:spcBef>
              <a:defRPr sz="1500" b="1">
                <a:solidFill>
                  <a:srgbClr val="0F172A"/>
                </a:solidFill>
              </a:defRPr>
            </a:pPr>
            <a:r>
              <a:t>Automated Optical Route Tracing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Vector line rendering connecting physical KSEB poles.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Automated end-to-end fiber span distance calculations.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Interactive spatial GIS map overlay for central planners.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3455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rPr dirty="0"/>
              <a:t>PHASE 3 (STRATEGIC Q2-Q3)</a:t>
            </a:r>
          </a:p>
          <a:p>
            <a:pPr>
              <a:spcBef>
                <a:spcPts val="300"/>
              </a:spcBef>
              <a:defRPr sz="1500" b="1">
                <a:solidFill>
                  <a:srgbClr val="0F172A"/>
                </a:solidFill>
              </a:defRPr>
            </a:pPr>
            <a:r>
              <a:rPr dirty="0"/>
              <a:t>Optical Power &amp; OSS/BSS Integration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rPr dirty="0"/>
              <a:t>─────────────────────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• Optical Power Budget (dBm) loss heatmap tracking.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• Automated fault location triangulation on physical field maps.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Summary Conclusion: The GPON Network Mapping platform delivers a high-accuracy, cost-effective, and fully resilient GIS foundation. System is fully production-ready for circle-wide expansion.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1376</Words>
  <Application>Microsoft Office PowerPoint</Application>
  <PresentationFormat>Widescreen</PresentationFormat>
  <Paragraphs>152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Anoop P</dc:creator>
  <cp:keywords/>
  <dc:description>generated using python-pptx</dc:description>
  <cp:lastModifiedBy>Anoop P</cp:lastModifiedBy>
  <cp:revision>3</cp:revision>
  <dcterms:created xsi:type="dcterms:W3CDTF">2013-01-27T09:14:16Z</dcterms:created>
  <dcterms:modified xsi:type="dcterms:W3CDTF">2026-10-12T18:00:13Z</dcterms:modified>
  <cp:category/>
</cp:coreProperties>
</file>