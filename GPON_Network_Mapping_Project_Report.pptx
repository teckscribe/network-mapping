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77724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OFFICIAL PROJECT STATUS &amp; ARCHITECTURE REPORT</a:t>
            </a:r>
          </a:p>
          <a:p>
            <a:pPr>
              <a:spcBef>
                <a:spcPts val="1000"/>
              </a:spcBef>
              <a:defRPr sz="4000" b="1">
                <a:solidFill>
                  <a:srgbClr val="FFFFFF"/>
                </a:solidFill>
              </a:defRPr>
            </a:pPr>
            <a:r>
              <a:t>GPON Network Mapping &amp;</a:t>
            </a:r>
            <a:br/>
            <a:r>
              <a:t>Field Survey System</a:t>
            </a:r>
          </a:p>
          <a:p>
            <a:pPr>
              <a:spcBef>
                <a:spcPts val="1400"/>
              </a:spcBef>
              <a:defRPr sz="1600">
                <a:solidFill>
                  <a:srgbClr val="94A3B8"/>
                </a:solidFill>
              </a:defRPr>
            </a:pPr>
            <a:r>
              <a:t>Enterprise GIS Infrastructure, Offline-First Mobile PWA &amp; Central Office Management Portal</a:t>
            </a:r>
          </a:p>
          <a:p>
            <a:pPr>
              <a:spcBef>
                <a:spcPts val="2800"/>
              </a:spcBef>
              <a:defRPr sz="1200" b="1">
                <a:solidFill>
                  <a:srgbClr val="0284C7"/>
                </a:solidFill>
              </a:defRPr>
            </a:pPr>
            <a:r>
              <a:t>Submitted to: Superior Officers / Circle Management | Kerala Telecom Operations | Production v2.4</a:t>
            </a:r>
          </a:p>
        </p:txBody>
      </p:sp>
      <p:pic>
        <p:nvPicPr>
          <p:cNvPr id="5" name="Picture 4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828800"/>
            <a:ext cx="24688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PROJECT OVERVIEW</a:t>
            </a:r>
          </a:p>
          <a:p>
            <a:pPr>
              <a:spcBef>
                <a:spcPts val="300"/>
              </a:spcBef>
              <a:defRPr sz="2500" b="1">
                <a:solidFill>
                  <a:srgbClr val="0F172A"/>
                </a:solidFill>
              </a:defRPr>
            </a:pPr>
            <a:r>
              <a:t>Executive Summary &amp; Operational Mandate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13455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3600" b="1">
                <a:solidFill>
                  <a:srgbClr val="0284C7"/>
                </a:solidFill>
              </a:defRPr>
            </a:pPr>
            <a:r>
              <a:t>100%</a:t>
            </a:r>
          </a:p>
          <a:p>
            <a:pPr>
              <a:spcBef>
                <a:spcPts val="200"/>
              </a:spcBef>
              <a:defRPr sz="1500" b="1">
                <a:solidFill>
                  <a:srgbClr val="0F172A"/>
                </a:solidFill>
              </a:defRPr>
            </a:pPr>
            <a:r>
              <a:t>Geolocation Accuracy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Sub-meter GPS capture via Leaflet GIS integration eliminating manual coordinate transcription errors.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413455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3600" b="1">
                <a:solidFill>
                  <a:srgbClr val="0284C7"/>
                </a:solidFill>
              </a:defRPr>
            </a:pPr>
            <a:r>
              <a:t>0%</a:t>
            </a:r>
          </a:p>
          <a:p>
            <a:pPr>
              <a:spcBef>
                <a:spcPts val="200"/>
              </a:spcBef>
              <a:defRPr sz="1500" b="1">
                <a:solidFill>
                  <a:srgbClr val="0F172A"/>
                </a:solidFill>
              </a:defRPr>
            </a:pPr>
            <a:r>
              <a:t>Field Data Loss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Offline-First Service Worker (v73) architecture with client persistence enabling seamless survey in zero-network rural zones.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413455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3600" b="1">
                <a:solidFill>
                  <a:srgbClr val="0284C7"/>
                </a:solidFill>
              </a:defRPr>
            </a:pPr>
            <a:r>
              <a:t>4x</a:t>
            </a:r>
          </a:p>
          <a:p>
            <a:pPr>
              <a:spcBef>
                <a:spcPts val="200"/>
              </a:spcBef>
              <a:defRPr sz="1500" b="1">
                <a:solidFill>
                  <a:srgbClr val="0F172A"/>
                </a:solidFill>
              </a:defRPr>
            </a:pPr>
            <a:r>
              <a:t>Survey Ingestion Velocity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Real-time sync to Central Office SQLite ledger replacing days of post-survey manual Excel collation.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10728655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28600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Strategic Objective &amp; Current Deployment Status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Digital Transformation of FTTH Infrastructure: Transforms legacy manual paper/spreadsheet field surveys into an automated, georeferenced, cloud-synchronized GIS network database.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End-to-End Asset Traceability: Captures electric utility poles (KSEB Pole #), optical distribution nodes, splitters (1:8, 1:16), fiber strand counts, RT rooms, and landmark coordinates.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Full Circle Operational Footprint: Deployed and operational across Kerala telecom operational zones including Thrissur, Kottayam, and Trivandrum Sub divisions.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Executive Oversight: Provides senior officers real-time visibility into survey progress, team productivity, asset density, and exportable audit-ready Excel reports.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BUSINESS CASE &amp; RATIONALE</a:t>
            </a:r>
          </a:p>
          <a:p>
            <a:pPr>
              <a:spcBef>
                <a:spcPts val="300"/>
              </a:spcBef>
              <a:defRPr sz="2500" b="1">
                <a:solidFill>
                  <a:srgbClr val="0F172A"/>
                </a:solidFill>
              </a:defRPr>
            </a:pPr>
            <a:r>
              <a:t>Operational Challenges vs Modern Digital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700" b="1">
                <a:solidFill>
                  <a:srgbClr val="E11D48"/>
                </a:solidFill>
              </a:defRPr>
            </a:pPr>
            <a:r>
              <a:t>⚠️ Legacy Manual Survey Vulnerabilities</a:t>
            </a:r>
          </a:p>
          <a:p>
            <a:pPr>
              <a:spcBef>
                <a:spcPts val="700"/>
              </a:spcBef>
              <a:defRPr sz="1150" b="1">
                <a:solidFill>
                  <a:srgbClr val="0F172A"/>
                </a:solidFill>
              </a:defRPr>
            </a:pPr>
            <a:r>
              <a:t>• GPS Coordinate Errors: </a:t>
            </a:r>
            <a:r>
              <a:rPr b="0">
                <a:solidFill>
                  <a:srgbClr val="64748B"/>
                </a:solidFill>
              </a:rPr>
              <a:t>Manual transcription of latitude/longitude led to inaccurate GIS placement and misplaced optical fiber routes.</a:t>
            </a:r>
          </a:p>
          <a:p>
            <a:pPr>
              <a:spcBef>
                <a:spcPts val="700"/>
              </a:spcBef>
              <a:defRPr sz="1150" b="1">
                <a:solidFill>
                  <a:srgbClr val="0F172A"/>
                </a:solidFill>
              </a:defRPr>
            </a:pPr>
            <a:r>
              <a:t>• Duplicate &amp; Unvalidated Pole IDs: </a:t>
            </a:r>
            <a:r>
              <a:rPr b="0">
                <a:solidFill>
                  <a:srgbClr val="64748B"/>
                </a:solidFill>
              </a:rPr>
              <a:t>Technicians frequently entered inconsistent or duplicate KSEB pole numbers without real-time database validation.</a:t>
            </a:r>
          </a:p>
          <a:p>
            <a:pPr>
              <a:spcBef>
                <a:spcPts val="700"/>
              </a:spcBef>
              <a:defRPr sz="1150" b="1">
                <a:solidFill>
                  <a:srgbClr val="0F172A"/>
                </a:solidFill>
              </a:defRPr>
            </a:pPr>
            <a:r>
              <a:t>• Data Loss in Shadow Zones: </a:t>
            </a:r>
            <a:r>
              <a:rPr b="0">
                <a:solidFill>
                  <a:srgbClr val="64748B"/>
                </a:solidFill>
              </a:rPr>
              <a:t>Loss of cellular reception in rural areas resulted in unrecorded survey entries or delayed data synchronization.</a:t>
            </a:r>
          </a:p>
          <a:p>
            <a:pPr>
              <a:spcBef>
                <a:spcPts val="700"/>
              </a:spcBef>
              <a:defRPr sz="1150" b="1">
                <a:solidFill>
                  <a:srgbClr val="0F172A"/>
                </a:solidFill>
              </a:defRPr>
            </a:pPr>
            <a:r>
              <a:t>• Fragmented Spreadsheets: </a:t>
            </a:r>
            <a:r>
              <a:rPr b="0">
                <a:solidFill>
                  <a:srgbClr val="64748B"/>
                </a:solidFill>
              </a:rPr>
              <a:t>Field data arrived in disconnected Excel files across sub-divisions, taking weeks for central office compilation.</a:t>
            </a:r>
          </a:p>
          <a:p>
            <a:pPr>
              <a:spcBef>
                <a:spcPts val="700"/>
              </a:spcBef>
              <a:defRPr sz="1150" b="1">
                <a:solidFill>
                  <a:srgbClr val="0F172A"/>
                </a:solidFill>
              </a:defRPr>
            </a:pPr>
            <a:r>
              <a:t>• No Role-Based Security: </a:t>
            </a:r>
            <a:r>
              <a:rPr b="0">
                <a:solidFill>
                  <a:srgbClr val="64748B"/>
                </a:solidFill>
              </a:rPr>
              <a:t>Sensitive network layout files and customer drop coordinates lacked role-based access control or audit trails.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645920"/>
            <a:ext cx="521208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700" b="1">
                <a:solidFill>
                  <a:srgbClr val="10B981"/>
                </a:solidFill>
              </a:defRPr>
            </a:pPr>
            <a:r>
              <a:t>✅ Modern GPON Mapping System</a:t>
            </a:r>
          </a:p>
          <a:p>
            <a:pPr>
              <a:spcBef>
                <a:spcPts val="700"/>
              </a:spcBef>
              <a:defRPr sz="1150" b="1">
                <a:solidFill>
                  <a:srgbClr val="0F172A"/>
                </a:solidFill>
              </a:defRPr>
            </a:pPr>
            <a:r>
              <a:t>• Hardware-Accelerated Geolocation: </a:t>
            </a:r>
            <a:r>
              <a:rPr b="0">
                <a:solidFill>
                  <a:srgbClr val="64748B"/>
                </a:solidFill>
              </a:rPr>
              <a:t>One-touch GPS capture with live interactive Leaflet maps and visual radius accuracy feedback.</a:t>
            </a:r>
          </a:p>
          <a:p>
            <a:pPr>
              <a:spcBef>
                <a:spcPts val="700"/>
              </a:spcBef>
              <a:defRPr sz="1150" b="1">
                <a:solidFill>
                  <a:srgbClr val="0F172A"/>
                </a:solidFill>
              </a:defRPr>
            </a:pPr>
            <a:r>
              <a:t>• Hierarchical Validation Engine: </a:t>
            </a:r>
            <a:r>
              <a:rPr b="0">
                <a:solidFill>
                  <a:srgbClr val="64748B"/>
                </a:solidFill>
              </a:rPr>
              <a:t>Cascading Region → Center → RT Room → Node dropdowns with strict KSEB pole integrity checks.</a:t>
            </a:r>
          </a:p>
          <a:p>
            <a:pPr>
              <a:spcBef>
                <a:spcPts val="700"/>
              </a:spcBef>
              <a:defRPr sz="1150" b="1">
                <a:solidFill>
                  <a:srgbClr val="0F172A"/>
                </a:solidFill>
              </a:defRPr>
            </a:pPr>
            <a:r>
              <a:t>• Offline-First Resilient PWA: </a:t>
            </a:r>
            <a:r>
              <a:rPr b="0">
                <a:solidFill>
                  <a:srgbClr val="64748B"/>
                </a:solidFill>
              </a:rPr>
              <a:t>Service Worker caching stores surveys locally in offline storage and syncs automatically when network reconnects.</a:t>
            </a:r>
          </a:p>
          <a:p>
            <a:pPr>
              <a:spcBef>
                <a:spcPts val="700"/>
              </a:spcBef>
              <a:defRPr sz="1150" b="1">
                <a:solidFill>
                  <a:srgbClr val="0F172A"/>
                </a:solidFill>
              </a:defRPr>
            </a:pPr>
            <a:r>
              <a:t>• Unified Live Central Ledger: </a:t>
            </a:r>
            <a:r>
              <a:rPr b="0">
                <a:solidFill>
                  <a:srgbClr val="64748B"/>
                </a:solidFill>
              </a:rPr>
              <a:t>All field teams push to an ACID SQLite central repository with real-time live feed monitoring.</a:t>
            </a:r>
          </a:p>
          <a:p>
            <a:pPr>
              <a:spcBef>
                <a:spcPts val="700"/>
              </a:spcBef>
              <a:defRPr sz="1150" b="1">
                <a:solidFill>
                  <a:srgbClr val="0F172A"/>
                </a:solidFill>
              </a:defRPr>
            </a:pPr>
            <a:r>
              <a:t>• Enterprise RBAC Governance: </a:t>
            </a:r>
            <a:r>
              <a:rPr b="0">
                <a:solidFill>
                  <a:srgbClr val="64748B"/>
                </a:solidFill>
              </a:rPr>
              <a:t>5-tiered security model separating field technicians, ACSOs, RCSMs, and Central Admins.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TECHNICAL ARCHITECTURE</a:t>
            </a:r>
          </a:p>
          <a:p>
            <a:pPr>
              <a:spcBef>
                <a:spcPts val="300"/>
              </a:spcBef>
              <a:defRPr sz="2500" b="1">
                <a:solidFill>
                  <a:srgbClr val="0F172A"/>
                </a:solidFill>
              </a:defRPr>
            </a:pPr>
            <a:r>
              <a:t>End-to-End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LAYER 1: FIELD CLIENT</a:t>
            </a:r>
          </a:p>
          <a:p>
            <a:pPr>
              <a:spcBef>
                <a:spcPts val="300"/>
              </a:spcBef>
              <a:defRPr sz="1400" b="1">
                <a:solidFill>
                  <a:srgbClr val="0F172A"/>
                </a:solidFill>
              </a:defRPr>
            </a:pPr>
            <a:r>
              <a:t>Progressive Web App (PWA)</a:t>
            </a:r>
          </a:p>
          <a:p>
            <a:pPr>
              <a:spcBef>
                <a:spcPts val="200"/>
              </a:spcBef>
              <a:defRPr sz="900">
                <a:solidFill>
                  <a:srgbClr val="E2E8F0"/>
                </a:solidFill>
              </a:defRPr>
            </a:pPr>
            <a:r>
              <a:t>───────────────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▪ Installable Mobile Web App (Zero App Store friction)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▪ Service Worker v73 offline asset &amp; API cache engine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▪ Leaflet GIS interactive mapping engine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▪ HTML5 Geolocation API with accuracy bounding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56032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950" b="1">
                <a:solidFill>
                  <a:srgbClr val="1E293B"/>
                </a:solidFill>
              </a:defRPr>
            </a:pPr>
            <a:r>
              <a:t>LAYER 2: BACKEND CORE</a:t>
            </a:r>
          </a:p>
          <a:p>
            <a:pPr>
              <a:spcBef>
                <a:spcPts val="300"/>
              </a:spcBef>
              <a:defRPr sz="1400" b="1">
                <a:solidFill>
                  <a:srgbClr val="0F172A"/>
                </a:solidFill>
              </a:defRPr>
            </a:pPr>
            <a:r>
              <a:t>High-Performance FastAPI</a:t>
            </a:r>
          </a:p>
          <a:p>
            <a:pPr>
              <a:spcBef>
                <a:spcPts val="200"/>
              </a:spcBef>
              <a:defRPr sz="900">
                <a:solidFill>
                  <a:srgbClr val="E2E8F0"/>
                </a:solidFill>
              </a:defRPr>
            </a:pPr>
            <a:r>
              <a:t>───────────────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▪ Python 3.10+ Asynchronous ASGI RESTful API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▪ 40 specialized endpoints for survey, auth &amp; hierarchy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▪ Sub-50ms latency response times under load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▪ Automated Excel / CSV template streaming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56032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LAYER 3: DATA PERSISTENCE</a:t>
            </a:r>
          </a:p>
          <a:p>
            <a:pPr>
              <a:spcBef>
                <a:spcPts val="300"/>
              </a:spcBef>
              <a:defRPr sz="1400" b="1">
                <a:solidFill>
                  <a:srgbClr val="0F172A"/>
                </a:solidFill>
              </a:defRPr>
            </a:pPr>
            <a:r>
              <a:t>Transactional SQLite Ledger</a:t>
            </a:r>
          </a:p>
          <a:p>
            <a:pPr>
              <a:spcBef>
                <a:spcPts val="200"/>
              </a:spcBef>
              <a:defRPr sz="900">
                <a:solidFill>
                  <a:srgbClr val="E2E8F0"/>
                </a:solidFill>
              </a:defRPr>
            </a:pPr>
            <a:r>
              <a:t>───────────────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▪ ACID-compliant SQLite database (survey_data.db)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▪ WAL (Write-Ahead Logging) for safe concurrent writes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▪ Optimized indexing on Region, Center, and RT Room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▪ Multi-tiered Google Drive / Cloud snapshot backup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645920"/>
            <a:ext cx="256032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950" b="1">
                <a:solidFill>
                  <a:srgbClr val="F59E0B"/>
                </a:solidFill>
              </a:defRPr>
            </a:pPr>
            <a:r>
              <a:t>LAYER 4: SECURITY &amp; GOVERNANCE</a:t>
            </a:r>
          </a:p>
          <a:p>
            <a:pPr>
              <a:spcBef>
                <a:spcPts val="300"/>
              </a:spcBef>
              <a:defRPr sz="1400" b="1">
                <a:solidFill>
                  <a:srgbClr val="0F172A"/>
                </a:solidFill>
              </a:defRPr>
            </a:pPr>
            <a:r>
              <a:t>Role-Based Access Control</a:t>
            </a:r>
          </a:p>
          <a:p>
            <a:pPr>
              <a:spcBef>
                <a:spcPts val="200"/>
              </a:spcBef>
              <a:defRPr sz="900">
                <a:solidFill>
                  <a:srgbClr val="E2E8F0"/>
                </a:solidFill>
              </a:defRPr>
            </a:pPr>
            <a:r>
              <a:t>───────────────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▪ Instant Pre-Render Auth Guard preventing FOUC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▪ Strict server-side role validation on /admin endpoints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▪ Cryptographic session tokens &amp; password hashing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▪ Comprehensive client audit &amp; operational trade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ENTERPRISE SECURITY</a:t>
            </a:r>
          </a:p>
          <a:p>
            <a:pPr>
              <a:spcBef>
                <a:spcPts val="300"/>
              </a:spcBef>
              <a:defRPr sz="2500" b="1">
                <a:solidFill>
                  <a:srgbClr val="0F172A"/>
                </a:solidFill>
              </a:defRPr>
            </a:pPr>
            <a:r>
              <a:t>Security Governance &amp; Role-Based Access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👑 Super Admin  |  Full System Authority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</a:defRPr>
            </a:pPr>
            <a:r>
              <a:t>Target Audience: Central Office Network Administrators  —  Uploads Node Master hierarchy Excel sheets, manages all circle databases, creates/deletes users, and configures circle boundaries.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10728655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300" b="1">
                <a:solidFill>
                  <a:srgbClr val="1E293B"/>
                </a:solidFill>
              </a:defRPr>
            </a:pPr>
            <a:r>
              <a:t>🛡️ Admin  |  User &amp; Operations Control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</a:defRPr>
            </a:pPr>
            <a:r>
              <a:t>Target Audience: Divisional Operational Officers  —  Adds and updates user access, assigns multi-region/multi-center jurisdictions, monitors live survey feeds, and executes bulk data exports.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60"/>
            <a:ext cx="10728655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📊 RCSM (Regional Manager)  |  Analytics &amp; Oversight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</a:defRPr>
            </a:pPr>
            <a:r>
              <a:t>Target Audience: Circle Service &amp; Quality Managers  —  Full visibility into field progress dashboards, quality verification, cross-circle KPI reporting, and field data validation.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26280"/>
            <a:ext cx="10728655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📝 ACSO (Sub-Divisional Officer)  |  Sub-Division Operations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</a:defRPr>
            </a:pPr>
            <a:r>
              <a:t>Target Audience: Assistant Circle Sub-divisional Officers  —  Supervises multi-center field technician progress, reviews surveyed poles in designated centers, and performs data entry.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728655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300" b="1">
                <a:solidFill>
                  <a:srgbClr val="64748B"/>
                </a:solidFill>
              </a:defRPr>
            </a:pPr>
            <a:r>
              <a:t>👷 Field Technician  |  Survey Data Ingestion Only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</a:defRPr>
            </a:pPr>
            <a:r>
              <a:t>Target Audience: On-Ground Survey Engineers  —  Restricted exclusively to mobile survey capture. Zero access to administrative portals, user rosters, or master configuration sheets.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OPERATIONAL WORKFLOW</a:t>
            </a:r>
          </a:p>
          <a:p>
            <a:pPr>
              <a:spcBef>
                <a:spcPts val="300"/>
              </a:spcBef>
              <a:defRPr sz="2500" b="1">
                <a:solidFill>
                  <a:srgbClr val="0F172A"/>
                </a:solidFill>
              </a:defRPr>
            </a:pPr>
            <a:r>
              <a:t>Field Survey Lifecycle &amp; GIS Ingestion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05740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28600"/>
          <a:lstStyle/>
          <a:p>
            <a:pPr algn="ctr">
              <a:defRPr sz="2800" b="1">
                <a:solidFill>
                  <a:srgbClr val="0284C7"/>
                </a:solidFill>
              </a:defRPr>
            </a:pPr>
            <a:r>
              <a:t>01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</a:defRPr>
            </a:pPr>
            <a:r>
              <a:t>Step 1: Node Hierarchy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Technician selects Region, Center, RT Room, and Node Name via cascading dropdowns that prevent cross-center errors.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645920"/>
            <a:ext cx="205740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28600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02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</a:defRPr>
            </a:pPr>
            <a:r>
              <a:t>Step 2: Pole &amp; GPS Capture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Physical KSEB Pole # is entered; live GPS coordinates are acquired with Leaflet map confirmation.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645920"/>
            <a:ext cx="205740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28600"/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03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</a:defRPr>
            </a:pPr>
            <a:r>
              <a:t>Step 3: Hardware Specs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Records enclosure type, fiber strand count, splitter ratio (1:8 / 1:16), port allocations, and landmark details.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9" y="1645920"/>
            <a:ext cx="205740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28600"/>
          <a:lstStyle/>
          <a:p>
            <a:pPr algn="ctr">
              <a:defRPr sz="2800" b="1">
                <a:solidFill>
                  <a:srgbClr val="F59E0B"/>
                </a:solidFill>
              </a:defRPr>
            </a:pPr>
            <a:r>
              <a:t>04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</a:defRPr>
            </a:pPr>
            <a:r>
              <a:t>Step 4: Offline Ingestion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If cell connectivity is unavailable, survey is cached in local IndexedDB storage with visual status dot.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1645920"/>
            <a:ext cx="205740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28600"/>
          <a:lstStyle/>
          <a:p>
            <a:pPr algn="ctr">
              <a:defRPr sz="2800" b="1">
                <a:solidFill>
                  <a:srgbClr val="0284C7"/>
                </a:solidFill>
              </a:defRPr>
            </a:pPr>
            <a:r>
              <a:t>05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</a:defRPr>
            </a:pPr>
            <a:r>
              <a:t>Step 5: Live Cloud Commit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Upon network reconnect, queued surveys automatically push to Central Office SQLite database with zero data loss.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MANAGEMENT DASHBOARD</a:t>
            </a:r>
          </a:p>
          <a:p>
            <a:pPr>
              <a:spcBef>
                <a:spcPts val="300"/>
              </a:spcBef>
              <a:defRPr sz="2500" b="1">
                <a:solidFill>
                  <a:srgbClr val="0F172A"/>
                </a:solidFill>
              </a:defRPr>
            </a:pPr>
            <a:r>
              <a:t>Central Office Admin Portal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13455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📡 Real-Time Survey Live Feed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Instant tabular view of all field submissions across circles with live multi-region, multi-center, and RT room filters.</a:t>
            </a:r>
          </a:p>
          <a:p>
            <a:pPr>
              <a:spcBef>
                <a:spcPts val="400"/>
              </a:spcBef>
              <a:defRPr sz="800">
                <a:solidFill>
                  <a:srgbClr val="E2E8F0"/>
                </a:solidFill>
              </a:defRPr>
            </a:pPr>
            <a:r>
              <a:t>─────────────────────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✓ Full-text search by KSEB pole number, landmark, surveyor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✓ Instant Excel export for management audit reports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✓ Row deletion and verification by authorized admins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413455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👥 User Access &amp; Jurisdiction Management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Complete lifecycle management for survey staff with multi-center coverage assignment.</a:t>
            </a:r>
          </a:p>
          <a:p>
            <a:pPr>
              <a:spcBef>
                <a:spcPts val="400"/>
              </a:spcBef>
              <a:defRPr sz="800">
                <a:solidFill>
                  <a:srgbClr val="E2E8F0"/>
                </a:solidFill>
              </a:defRPr>
            </a:pPr>
            <a:r>
              <a:t>─────────────────────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✓ Multi-region and multi-center checklist picker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✓ Elevated z-index interface preventing modal clipping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✓ Secure PIN / Password reset with contact info records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413455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📂 Hierarchy Ingestion &amp; Cloud Backup Monitor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Bulk upload for network master sheets and live Google Drive backup health verification.</a:t>
            </a:r>
          </a:p>
          <a:p>
            <a:pPr>
              <a:spcBef>
                <a:spcPts val="400"/>
              </a:spcBef>
              <a:defRPr sz="800">
                <a:solidFill>
                  <a:srgbClr val="E2E8F0"/>
                </a:solidFill>
              </a:defRPr>
            </a:pPr>
            <a:r>
              <a:t>─────────────────────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✓ Excel template download &amp; instant batch hierarchy upload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✓ Live Google Drive sync status pill (🟢 OK) in header bar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✓ 1-Click diagnostic modal for supervisors &amp; engineering heads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SYSTEM RELIABILITY</a:t>
            </a:r>
          </a:p>
          <a:p>
            <a:pPr>
              <a:spcBef>
                <a:spcPts val="300"/>
              </a:spcBef>
              <a:defRPr sz="2500" b="1">
                <a:solidFill>
                  <a:srgbClr val="0F172A"/>
                </a:solidFill>
              </a:defRPr>
            </a:pPr>
            <a:r>
              <a:t>Data Integrity, Backup &amp; System Resilience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13455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PERSISTENCE CORE</a:t>
            </a:r>
          </a:p>
          <a:p>
            <a:pPr>
              <a:spcBef>
                <a:spcPts val="300"/>
              </a:spcBef>
              <a:defRPr sz="1600" b="1">
                <a:solidFill>
                  <a:srgbClr val="0F172A"/>
                </a:solidFill>
              </a:defRPr>
            </a:pPr>
            <a:r>
              <a:t>ACID Database Safety</a:t>
            </a:r>
          </a:p>
          <a:p>
            <a:pPr>
              <a:spcBef>
                <a:spcPts val="400"/>
              </a:spcBef>
              <a:defRPr sz="800">
                <a:solidFill>
                  <a:srgbClr val="E2E8F0"/>
                </a:solidFill>
              </a:defRPr>
            </a:pPr>
            <a:r>
              <a:t>─────────────────────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Atomic SQLite transactions guarantee zero partial or corrupted survey writes.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Write-Ahead Logging (WAL) mode enables high-throughput concurrent reads and writes.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Parameterized queries eliminate SQL injection vulnerabilities.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413455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DISASTER RECOVERY</a:t>
            </a:r>
          </a:p>
          <a:p>
            <a:pPr>
              <a:spcBef>
                <a:spcPts val="300"/>
              </a:spcBef>
              <a:defRPr sz="1600" b="1">
                <a:solidFill>
                  <a:srgbClr val="0F172A"/>
                </a:solidFill>
              </a:defRPr>
            </a:pPr>
            <a:r>
              <a:t>Decoupled Cloud Archival</a:t>
            </a:r>
          </a:p>
          <a:p>
            <a:pPr>
              <a:spcBef>
                <a:spcPts val="400"/>
              </a:spcBef>
              <a:defRPr sz="800">
                <a:solidFill>
                  <a:srgbClr val="E2E8F0"/>
                </a:solidFill>
              </a:defRPr>
            </a:pPr>
            <a:r>
              <a:t>─────────────────────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Automated isolated cron background worker (backup_to_gdrive.sh) creates encrypted archives.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Standalone health verifier (verify_backup_health.py) checks size, age (&lt;24h), and Google Drive.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Decoupled sidecar file architecture ensures ZERO server event loop stalling or performance drop.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413455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DEV-OPS &amp; MONITORING</a:t>
            </a:r>
          </a:p>
          <a:p>
            <a:pPr>
              <a:spcBef>
                <a:spcPts val="300"/>
              </a:spcBef>
              <a:defRPr sz="1600" b="1">
                <a:solidFill>
                  <a:srgbClr val="0F172A"/>
                </a:solidFill>
              </a:defRPr>
            </a:pPr>
            <a:r>
              <a:t>Automated Architecture Analyzer</a:t>
            </a:r>
          </a:p>
          <a:p>
            <a:pPr>
              <a:spcBef>
                <a:spcPts val="400"/>
              </a:spcBef>
              <a:defRPr sz="800">
                <a:solidFill>
                  <a:srgbClr val="E2E8F0"/>
                </a:solidFill>
              </a:defRPr>
            </a:pPr>
            <a:r>
              <a:t>─────────────────────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Custom wiring analyzer scans 40 API endpoints and 100 frontend functions on every commit.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Automated blast-radius matrix ensures UI modifications never break database models.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Stand-alone wiring report HTML portal available to engineering leadership.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DISASTER RECOVERY ARCHITECTURE</a:t>
            </a:r>
          </a:p>
          <a:p>
            <a:pPr>
              <a:spcBef>
                <a:spcPts val="300"/>
              </a:spcBef>
              <a:defRPr sz="2500" b="1">
                <a:solidFill>
                  <a:srgbClr val="0F172A"/>
                </a:solidFill>
              </a:defRPr>
            </a:pPr>
            <a:r>
              <a:t>Decoupled Google Drive Backup &amp; Live Health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050" b="1">
                <a:solidFill>
                  <a:srgbClr val="0284C7"/>
                </a:solidFill>
              </a:defRPr>
            </a:pPr>
            <a:r>
              <a:t>CORE ARCHITECTURAL PRINCIPLE: ZERO WEB SERVER OVERLOAD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</a:defRPr>
            </a:pPr>
            <a:r>
              <a:t>Absolute decoupling between background cloud synchronization (rclone + cron) and FastAPI's web server event loop. Background sync operates independently, while the Central Office web server performs microscopic (&lt;0.2ms) local JSON reads, guaranteeing zero button freezes or UI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3413455" cy="3337560"/>
          </a:xfrm>
          <a:prstGeom prst="roundRect">
            <a:avLst/>
          </a:prstGeom>
          <a:solidFill>
            <a:srgbClr val="F8FAFC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TIER 1: ISOLATED WORKER</a:t>
            </a:r>
          </a:p>
          <a:p>
            <a:pPr>
              <a:spcBef>
                <a:spcPts val="300"/>
              </a:spcBef>
              <a:defRPr sz="1450" b="1">
                <a:solidFill>
                  <a:srgbClr val="0F172A"/>
                </a:solidFill>
              </a:defRPr>
            </a:pPr>
            <a:r>
              <a:t>Background Cron Sync</a:t>
            </a:r>
          </a:p>
          <a:p>
            <a:pPr>
              <a:spcBef>
                <a:spcPts val="200"/>
              </a:spcBef>
              <a:defRPr sz="800">
                <a:solidFill>
                  <a:srgbClr val="E2E8F0"/>
                </a:solidFill>
              </a:defRPr>
            </a:pPr>
            <a:r>
              <a:t>─────────────────────</a:t>
            </a:r>
          </a:p>
          <a:p>
            <a:pPr>
              <a:spcBef>
                <a:spcPts val="500"/>
              </a:spcBef>
              <a:defRPr sz="1000">
                <a:solidFill>
                  <a:srgbClr val="1E293B"/>
                </a:solidFill>
              </a:defRPr>
            </a:pPr>
            <a:r>
              <a:t>• Runs on Linux system cron 24/7 without touching server.py.</a:t>
            </a:r>
          </a:p>
          <a:p>
            <a:pPr>
              <a:spcBef>
                <a:spcPts val="500"/>
              </a:spcBef>
              <a:defRPr sz="1000">
                <a:solidFill>
                  <a:srgbClr val="1E293B"/>
                </a:solidFill>
              </a:defRPr>
            </a:pPr>
            <a:r>
              <a:t>• Compresses SQLite DB &amp; Node Master into timestamped tar.gz archives.</a:t>
            </a:r>
          </a:p>
          <a:p>
            <a:pPr>
              <a:spcBef>
                <a:spcPts val="500"/>
              </a:spcBef>
              <a:defRPr sz="1000">
                <a:solidFill>
                  <a:srgbClr val="1E293B"/>
                </a:solidFill>
              </a:defRPr>
            </a:pPr>
            <a:r>
              <a:t>• Safely synchronizes archives to Google Drive (gdrive:GPON_Backups) via rclone.</a:t>
            </a:r>
          </a:p>
          <a:p>
            <a:pPr>
              <a:spcBef>
                <a:spcPts val="500"/>
              </a:spcBef>
              <a:defRPr sz="1000">
                <a:solidFill>
                  <a:srgbClr val="1E293B"/>
                </a:solidFill>
              </a:defRPr>
            </a:pPr>
            <a:r>
              <a:t>• Automated 30-day rolling retention &amp; transaction audit logging.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560320"/>
            <a:ext cx="3413455" cy="3337560"/>
          </a:xfrm>
          <a:prstGeom prst="roundRect">
            <a:avLst/>
          </a:prstGeom>
          <a:solidFill>
            <a:srgbClr val="F8FAF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TIER 2: VERIFICATION ENGINE</a:t>
            </a:r>
          </a:p>
          <a:p>
            <a:pPr>
              <a:spcBef>
                <a:spcPts val="300"/>
              </a:spcBef>
              <a:defRPr sz="1450" b="1">
                <a:solidFill>
                  <a:srgbClr val="0F172A"/>
                </a:solidFill>
              </a:defRPr>
            </a:pPr>
            <a:r>
              <a:t>Standalone Health Verifier</a:t>
            </a:r>
          </a:p>
          <a:p>
            <a:pPr>
              <a:spcBef>
                <a:spcPts val="200"/>
              </a:spcBef>
              <a:defRPr sz="800">
                <a:solidFill>
                  <a:srgbClr val="E2E8F0"/>
                </a:solidFill>
              </a:defRPr>
            </a:pPr>
            <a:r>
              <a:t>─────────────────────</a:t>
            </a:r>
          </a:p>
          <a:p>
            <a:pPr>
              <a:spcBef>
                <a:spcPts val="500"/>
              </a:spcBef>
              <a:defRPr sz="1000">
                <a:solidFill>
                  <a:srgbClr val="1E293B"/>
                </a:solidFill>
              </a:defRPr>
            </a:pPr>
            <a:r>
              <a:t>• Dedicated diagnostic tool (scripts/verify_backup_health.py).</a:t>
            </a:r>
          </a:p>
          <a:p>
            <a:pPr>
              <a:spcBef>
                <a:spcPts val="500"/>
              </a:spcBef>
              <a:defRPr sz="1000">
                <a:solidFill>
                  <a:srgbClr val="1E293B"/>
                </a:solidFill>
              </a:defRPr>
            </a:pPr>
            <a:r>
              <a:t>• Validates archive presence, file size integrity, age freshness (&lt;24h), and rclone remote status.</a:t>
            </a:r>
          </a:p>
          <a:p>
            <a:pPr>
              <a:spcBef>
                <a:spcPts val="500"/>
              </a:spcBef>
              <a:defRPr sz="1000">
                <a:solidFill>
                  <a:srgbClr val="1E293B"/>
                </a:solidFill>
              </a:defRPr>
            </a:pPr>
            <a:r>
              <a:t>• Outputs microscopic sidecar status file (backup_status.json, ~300 B).</a:t>
            </a:r>
          </a:p>
          <a:p>
            <a:pPr>
              <a:spcBef>
                <a:spcPts val="500"/>
              </a:spcBef>
              <a:defRPr sz="1000">
                <a:solidFill>
                  <a:srgbClr val="1E293B"/>
                </a:solidFill>
              </a:defRPr>
            </a:pPr>
            <a:r>
              <a:t>• CLI interactive test mode (--test) for real-time terminal inspections.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560320"/>
            <a:ext cx="3413455" cy="3337560"/>
          </a:xfrm>
          <a:prstGeom prst="roundRect">
            <a:avLst/>
          </a:prstGeom>
          <a:solidFill>
            <a:srgbClr val="F8FAFC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950" b="1">
                <a:solidFill>
                  <a:srgbClr val="1E293B"/>
                </a:solidFill>
              </a:defRPr>
            </a:pPr>
            <a:r>
              <a:t>TIER 3: TELEMETRY &amp; UI</a:t>
            </a:r>
          </a:p>
          <a:p>
            <a:pPr>
              <a:spcBef>
                <a:spcPts val="300"/>
              </a:spcBef>
              <a:defRPr sz="1450" b="1">
                <a:solidFill>
                  <a:srgbClr val="0F172A"/>
                </a:solidFill>
              </a:defRPr>
            </a:pPr>
            <a:r>
              <a:t>Live Admin Status Pill</a:t>
            </a:r>
          </a:p>
          <a:p>
            <a:pPr>
              <a:spcBef>
                <a:spcPts val="200"/>
              </a:spcBef>
              <a:defRPr sz="800">
                <a:solidFill>
                  <a:srgbClr val="E2E8F0"/>
                </a:solidFill>
              </a:defRPr>
            </a:pPr>
            <a:r>
              <a:t>─────────────────────</a:t>
            </a:r>
          </a:p>
          <a:p>
            <a:pPr>
              <a:spcBef>
                <a:spcPts val="500"/>
              </a:spcBef>
              <a:defRPr sz="1000">
                <a:solidFill>
                  <a:srgbClr val="1E293B"/>
                </a:solidFill>
              </a:defRPr>
            </a:pPr>
            <a:r>
              <a:t>• Micro-read endpoint (/api/backup-status) executes in &lt;0.2ms with zero subprocess overhead.</a:t>
            </a:r>
          </a:p>
          <a:p>
            <a:pPr>
              <a:spcBef>
                <a:spcPts val="500"/>
              </a:spcBef>
              <a:defRPr sz="1000">
                <a:solidFill>
                  <a:srgbClr val="1E293B"/>
                </a:solidFill>
              </a:defRPr>
            </a:pPr>
            <a:r>
              <a:t>• Central Office Admin portal displays live status pill (🟢 GDrive: OK 0.5h ago).</a:t>
            </a:r>
          </a:p>
          <a:p>
            <a:pPr>
              <a:spcBef>
                <a:spcPts val="500"/>
              </a:spcBef>
              <a:defRPr sz="1000">
                <a:solidFill>
                  <a:srgbClr val="1E293B"/>
                </a:solidFill>
              </a:defRPr>
            </a:pPr>
            <a:r>
              <a:t>• 1-Click diagnostic inspection modal provides instant operational transparency to senior officers.</a:t>
            </a:r>
          </a:p>
          <a:p>
            <a:pPr>
              <a:spcBef>
                <a:spcPts val="500"/>
              </a:spcBef>
              <a:defRPr sz="1000">
                <a:solidFill>
                  <a:srgbClr val="1E293B"/>
                </a:solidFill>
              </a:defRPr>
            </a:pPr>
            <a:r>
              <a:t>• Non-blocking client-side AbortSignal guarantees admin buttons never hang or freeze.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6035040"/>
            <a:ext cx="10728655" cy="548640"/>
          </a:xfrm>
          <a:prstGeom prst="roundRect">
            <a:avLst/>
          </a:prstGeom>
          <a:solidFill>
            <a:srgbClr val="D1FAE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050" b="1">
                <a:solidFill>
                  <a:srgbClr val="0F172A"/>
                </a:solidFill>
              </a:defRPr>
            </a:pPr>
            <a:r>
              <a:t>✅ Production Verification on Server psms@psms: Verified 100% healthy synchronization to Google Drive in 0.5 hours with zero server CPU/RAM load.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OPERATIONAL STATUS</a:t>
            </a:r>
          </a:p>
          <a:p>
            <a:pPr>
              <a:spcBef>
                <a:spcPts val="300"/>
              </a:spcBef>
              <a:defRPr sz="2500" b="1">
                <a:solidFill>
                  <a:srgbClr val="0F172A"/>
                </a:solidFill>
              </a:defRPr>
            </a:pPr>
            <a:r>
              <a:t>Circle Deployment Status &amp; Field Footprint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13455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🟢 FULLY OPERATIONAL</a:t>
            </a:r>
          </a:p>
          <a:p>
            <a:pPr>
              <a:spcBef>
                <a:spcPts val="300"/>
              </a:spcBef>
              <a:defRPr sz="1600" b="1">
                <a:solidFill>
                  <a:srgbClr val="0F172A"/>
                </a:solidFill>
              </a:defRPr>
            </a:pPr>
            <a:r>
              <a:t>Thrissur Telecom Circle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Benchmark reference circle. High survey density across central and rural sub-divisions with zero reported downtime.</a:t>
            </a:r>
          </a:p>
          <a:p>
            <a:pPr>
              <a:spcBef>
                <a:spcPts val="400"/>
              </a:spcBef>
              <a:defRPr sz="800">
                <a:solidFill>
                  <a:srgbClr val="E2E8F0"/>
                </a:solidFill>
              </a:defRPr>
            </a:pPr>
            <a:r>
              <a:t>─────────────────────</a:t>
            </a:r>
          </a:p>
          <a:p>
            <a:pPr>
              <a:spcBef>
                <a:spcPts val="600"/>
              </a:spcBef>
              <a:defRPr sz="1150" b="1">
                <a:solidFill>
                  <a:srgbClr val="1E293B"/>
                </a:solidFill>
              </a:defRPr>
            </a:pPr>
            <a:r>
              <a:t>▪ Field Users: Active</a:t>
            </a:r>
          </a:p>
          <a:p>
            <a:pPr>
              <a:spcBef>
                <a:spcPts val="600"/>
              </a:spcBef>
              <a:defRPr sz="1150" b="1">
                <a:solidFill>
                  <a:srgbClr val="1E293B"/>
                </a:solidFill>
              </a:defRPr>
            </a:pPr>
            <a:r>
              <a:t>▪ Surveys Logged: 1000+</a:t>
            </a:r>
          </a:p>
          <a:p>
            <a:pPr>
              <a:spcBef>
                <a:spcPts val="600"/>
              </a:spcBef>
              <a:defRPr sz="1150" b="1">
                <a:solidFill>
                  <a:srgbClr val="1E293B"/>
                </a:solidFill>
              </a:defRPr>
            </a:pPr>
            <a:r>
              <a:t>▪ Sync Health: Optimal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413455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🟢 FULLY OPERATIONAL</a:t>
            </a:r>
          </a:p>
          <a:p>
            <a:pPr>
              <a:spcBef>
                <a:spcPts val="300"/>
              </a:spcBef>
              <a:defRPr sz="1600" b="1">
                <a:solidFill>
                  <a:srgbClr val="0F172A"/>
                </a:solidFill>
              </a:defRPr>
            </a:pPr>
            <a:r>
              <a:t>Kottayam Telecom Circle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Synchronized with latest security guardrails and dropdown fixes. Active survey data ingestion across all mapped centers.</a:t>
            </a:r>
          </a:p>
          <a:p>
            <a:pPr>
              <a:spcBef>
                <a:spcPts val="400"/>
              </a:spcBef>
              <a:defRPr sz="800">
                <a:solidFill>
                  <a:srgbClr val="E2E8F0"/>
                </a:solidFill>
              </a:defRPr>
            </a:pPr>
            <a:r>
              <a:t>─────────────────────</a:t>
            </a:r>
          </a:p>
          <a:p>
            <a:pPr>
              <a:spcBef>
                <a:spcPts val="600"/>
              </a:spcBef>
              <a:defRPr sz="1150" b="1">
                <a:solidFill>
                  <a:srgbClr val="1E293B"/>
                </a:solidFill>
              </a:defRPr>
            </a:pPr>
            <a:r>
              <a:t>▪ Field Users: Active</a:t>
            </a:r>
          </a:p>
          <a:p>
            <a:pPr>
              <a:spcBef>
                <a:spcPts val="600"/>
              </a:spcBef>
              <a:defRPr sz="1150" b="1">
                <a:solidFill>
                  <a:srgbClr val="1E293B"/>
                </a:solidFill>
              </a:defRPr>
            </a:pPr>
            <a:r>
              <a:t>▪ Hierarchy Cached: Yes</a:t>
            </a:r>
          </a:p>
          <a:p>
            <a:pPr>
              <a:spcBef>
                <a:spcPts val="600"/>
              </a:spcBef>
              <a:defRPr sz="1150" b="1">
                <a:solidFill>
                  <a:srgbClr val="1E293B"/>
                </a:solidFill>
              </a:defRPr>
            </a:pPr>
            <a:r>
              <a:t>▪ Sync Health: Optimal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413455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🔵 ROLLOUT IN PROGRESS</a:t>
            </a:r>
          </a:p>
          <a:p>
            <a:pPr>
              <a:spcBef>
                <a:spcPts val="300"/>
              </a:spcBef>
              <a:defRPr sz="1600" b="1">
                <a:solidFill>
                  <a:srgbClr val="0F172A"/>
                </a:solidFill>
              </a:defRPr>
            </a:pPr>
            <a:r>
              <a:t>Trivandrum Sub &amp; Ernakulam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Node master data uploaded. Multi-center technician access provisioned; field survey team onboarding underway.</a:t>
            </a:r>
          </a:p>
          <a:p>
            <a:pPr>
              <a:spcBef>
                <a:spcPts val="400"/>
              </a:spcBef>
              <a:defRPr sz="800">
                <a:solidFill>
                  <a:srgbClr val="E2E8F0"/>
                </a:solidFill>
              </a:defRPr>
            </a:pPr>
            <a:r>
              <a:t>─────────────────────</a:t>
            </a:r>
          </a:p>
          <a:p>
            <a:pPr>
              <a:spcBef>
                <a:spcPts val="600"/>
              </a:spcBef>
              <a:defRPr sz="1150" b="1">
                <a:solidFill>
                  <a:srgbClr val="1E293B"/>
                </a:solidFill>
              </a:defRPr>
            </a:pPr>
            <a:r>
              <a:t>▪ Hierarchy Loaded: Yes</a:t>
            </a:r>
          </a:p>
          <a:p>
            <a:pPr>
              <a:spcBef>
                <a:spcPts val="600"/>
              </a:spcBef>
              <a:defRPr sz="1150" b="1">
                <a:solidFill>
                  <a:srgbClr val="1E293B"/>
                </a:solidFill>
              </a:defRPr>
            </a:pPr>
            <a:r>
              <a:t>▪ Technicians Provisioned: Yes</a:t>
            </a:r>
          </a:p>
          <a:p>
            <a:pPr>
              <a:spcBef>
                <a:spcPts val="600"/>
              </a:spcBef>
              <a:defRPr sz="1150" b="1">
                <a:solidFill>
                  <a:srgbClr val="1E293B"/>
                </a:solidFill>
              </a:defRPr>
            </a:pPr>
            <a:r>
              <a:t>▪ Target: Full Circle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EXECUTIVE RECOMMENDATIONS</a:t>
            </a:r>
          </a:p>
          <a:p>
            <a:pPr>
              <a:spcBef>
                <a:spcPts val="300"/>
              </a:spcBef>
              <a:defRPr sz="2500" b="1">
                <a:solidFill>
                  <a:srgbClr val="0F172A"/>
                </a:solidFill>
              </a:defRPr>
            </a:pPr>
            <a:r>
              <a:t>Strategic Roadmap &amp; Future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13455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PHASE 1 (CURRENT ACHIEVED)</a:t>
            </a:r>
          </a:p>
          <a:p>
            <a:pPr>
              <a:spcBef>
                <a:spcPts val="300"/>
              </a:spcBef>
              <a:defRPr sz="1500" b="1">
                <a:solidFill>
                  <a:srgbClr val="0F172A"/>
                </a:solidFill>
              </a:defRPr>
            </a:pPr>
            <a:r>
              <a:t>GIS Pole &amp; Node Digitalization</a:t>
            </a:r>
          </a:p>
          <a:p>
            <a:pPr>
              <a:spcBef>
                <a:spcPts val="400"/>
              </a:spcBef>
              <a:defRPr sz="800">
                <a:solidFill>
                  <a:srgbClr val="E2E8F0"/>
                </a:solidFill>
              </a:defRPr>
            </a:pPr>
            <a:r>
              <a:t>─────────────────────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Full transition to mobile PWA field survey.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Cascading validation for Region, Center &amp; RT Room.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Robust offline caching and multi-center user governance.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413455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PHASE 2 (RECOMMENDED Q1)</a:t>
            </a:r>
          </a:p>
          <a:p>
            <a:pPr>
              <a:spcBef>
                <a:spcPts val="300"/>
              </a:spcBef>
              <a:defRPr sz="1500" b="1">
                <a:solidFill>
                  <a:srgbClr val="0F172A"/>
                </a:solidFill>
              </a:defRPr>
            </a:pPr>
            <a:r>
              <a:t>Automated Optical Route Tracing</a:t>
            </a:r>
          </a:p>
          <a:p>
            <a:pPr>
              <a:spcBef>
                <a:spcPts val="400"/>
              </a:spcBef>
              <a:defRPr sz="800">
                <a:solidFill>
                  <a:srgbClr val="E2E8F0"/>
                </a:solidFill>
              </a:defRPr>
            </a:pPr>
            <a:r>
              <a:t>─────────────────────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Vector line rendering connecting physical KSEB poles.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Automated end-to-end fiber span distance calculations.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Interactive spatial GIS map overlay for central planners.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413455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PHASE 3 (STRATEGIC Q2-Q3)</a:t>
            </a:r>
          </a:p>
          <a:p>
            <a:pPr>
              <a:spcBef>
                <a:spcPts val="300"/>
              </a:spcBef>
              <a:defRPr sz="1500" b="1">
                <a:solidFill>
                  <a:srgbClr val="0F172A"/>
                </a:solidFill>
              </a:defRPr>
            </a:pPr>
            <a:r>
              <a:t>Optical Power &amp; OSS/BSS Integration</a:t>
            </a:r>
          </a:p>
          <a:p>
            <a:pPr>
              <a:spcBef>
                <a:spcPts val="400"/>
              </a:spcBef>
              <a:defRPr sz="800">
                <a:solidFill>
                  <a:srgbClr val="E2E8F0"/>
                </a:solidFill>
              </a:defRPr>
            </a:pPr>
            <a:r>
              <a:t>─────────────────────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Optical Power Budget (dBm) loss heatmap tracking.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Direct API connectivity to telecom billing and CRM engines.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Automated fault location triangulation on physical field maps.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Summary Conclusion: The GPON Network Mapping platform delivers a high-accuracy, cost-effective, and fully resilient GIS foundation. System is fully production-ready for circle-wide expansion.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